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48e0efc41447ea" /><Relationship Type="http://schemas.openxmlformats.org/officeDocument/2006/relationships/extended-properties" Target="/docProps/app.xml" Id="R0af94fa9964e4c1b" /><Relationship Type="http://schemas.openxmlformats.org/officeDocument/2006/relationships/officeDocument" Target="/ppt/presentation.xml" Id="R7b1e3801e7fc43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3a8f94a1d34be1"/>
  </p:sldMasterIdLst>
  <p:notesMasterIdLst>
    <p:notesMasterId xmlns:r="http://schemas.openxmlformats.org/officeDocument/2006/relationships" r:id="R3f0e8ead6151420f"/>
  </p:notesMasterIdLst>
  <p:sldIdLst>
    <p:sldId xmlns:r="http://schemas.openxmlformats.org/officeDocument/2006/relationships" id="256" r:id="R4b25959e36904e0b"/>
    <p:sldId xmlns:r="http://schemas.openxmlformats.org/officeDocument/2006/relationships" id="257" r:id="R46d7da78213346f5"/>
    <p:sldId xmlns:r="http://schemas.openxmlformats.org/officeDocument/2006/relationships" id="258" r:id="R857accbf932541de"/>
    <p:sldId xmlns:r="http://schemas.openxmlformats.org/officeDocument/2006/relationships" id="259" r:id="R45185e477f6b4821"/>
    <p:sldId xmlns:r="http://schemas.openxmlformats.org/officeDocument/2006/relationships" id="260" r:id="Rba40c36d7d024cd9"/>
    <p:sldId xmlns:r="http://schemas.openxmlformats.org/officeDocument/2006/relationships" id="261" r:id="R49324818332d4552"/>
    <p:sldId xmlns:r="http://schemas.openxmlformats.org/officeDocument/2006/relationships" id="262" r:id="R9e56dae06c9c4216"/>
    <p:sldId xmlns:r="http://schemas.openxmlformats.org/officeDocument/2006/relationships" id="263" r:id="R24cf09aaaf3549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7efc5ee7524051" /><Relationship Type="http://schemas.openxmlformats.org/officeDocument/2006/relationships/slideMaster" Target="/ppt/slideMasters/slideMaster1.xml" Id="Re53a8f94a1d34be1" /><Relationship Type="http://schemas.openxmlformats.org/officeDocument/2006/relationships/notesMaster" Target="/ppt/notesMasters/notesMaster1.xml" Id="R3f0e8ead6151420f" /><Relationship Type="http://schemas.openxmlformats.org/officeDocument/2006/relationships/presProps" Target="/ppt/presProps.xml" Id="R9dc80e99be644881" /><Relationship Type="http://schemas.openxmlformats.org/officeDocument/2006/relationships/tableStyles" Target="/ppt/tableStyles.xml" Id="R781e65c67cbf4306" /><Relationship Type="http://schemas.openxmlformats.org/officeDocument/2006/relationships/slide" Target="/ppt/slides/slide1.xml" Id="R4b25959e36904e0b" /><Relationship Type="http://schemas.openxmlformats.org/officeDocument/2006/relationships/slide" Target="/ppt/slides/slide2.xml" Id="R46d7da78213346f5" /><Relationship Type="http://schemas.openxmlformats.org/officeDocument/2006/relationships/slide" Target="/ppt/slides/slide3.xml" Id="R857accbf932541de" /><Relationship Type="http://schemas.openxmlformats.org/officeDocument/2006/relationships/slide" Target="/ppt/slides/slide4.xml" Id="R45185e477f6b4821" /><Relationship Type="http://schemas.openxmlformats.org/officeDocument/2006/relationships/slide" Target="/ppt/slides/slide5.xml" Id="Rba40c36d7d024cd9" /><Relationship Type="http://schemas.openxmlformats.org/officeDocument/2006/relationships/slide" Target="/ppt/slides/slide6.xml" Id="R49324818332d4552" /><Relationship Type="http://schemas.openxmlformats.org/officeDocument/2006/relationships/slide" Target="/ppt/slides/slide7.xml" Id="R9e56dae06c9c4216" /><Relationship Type="http://schemas.openxmlformats.org/officeDocument/2006/relationships/slide" Target="/ppt/slides/slide8.xml" Id="R24cf09aaaf3549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0aa7ca663f4b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3d3ec45c98445f" /><Relationship Type="http://schemas.openxmlformats.org/officeDocument/2006/relationships/notesMaster" Target="/ppt/notesMasters/notesMaster1.xml" Id="R22bde01b7ca34d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eceb14e367432e" /><Relationship Type="http://schemas.openxmlformats.org/officeDocument/2006/relationships/notesMaster" Target="/ppt/notesMasters/notesMaster1.xml" Id="R35f25772a00f4c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e4e4c9f1534060" /><Relationship Type="http://schemas.openxmlformats.org/officeDocument/2006/relationships/notesMaster" Target="/ppt/notesMasters/notesMaster1.xml" Id="R5340b9ea30934c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0b5ca58a3a4960" /><Relationship Type="http://schemas.openxmlformats.org/officeDocument/2006/relationships/notesMaster" Target="/ppt/notesMasters/notesMaster1.xml" Id="R938567e3816d4a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f24522f31f4b60" /><Relationship Type="http://schemas.openxmlformats.org/officeDocument/2006/relationships/notesMaster" Target="/ppt/notesMasters/notesMaster1.xml" Id="R17cec27d00bc43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006f2cfe104f2e" /><Relationship Type="http://schemas.openxmlformats.org/officeDocument/2006/relationships/notesMaster" Target="/ppt/notesMasters/notesMaster1.xml" Id="R38c7242f855948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486a22e3314cf3" /><Relationship Type="http://schemas.openxmlformats.org/officeDocument/2006/relationships/notesMaster" Target="/ppt/notesMasters/notesMaster1.xml" Id="R00d92b200ea743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10932042b74e80" /><Relationship Type="http://schemas.openxmlformats.org/officeDocument/2006/relationships/notesMaster" Target="/ppt/notesMasters/notesMaster1.xml" Id="R6d47dc3a57d444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Cover visual generated with OpenAI image generation for this presentation; Phase 3 scope from user-provided project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Scope and outcomes from user-provided project specification; implementation confirmed in population, habitat, conservation, and alert service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Derived from implemented FastAPI routers: population.py, habitat.py, conservation.py; data source services and alert_service.py in user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Values are the seeded/dashboard defaults in population_service.py and PopulationIntelligence.jsx; capabilities are derived from implemented service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Corridor names, species, seasons, risks, and tracked counts from PopulationService.get_migration_analytics() in the user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Weights are from the user-provided project specification and calculate_health_scores() in conservation_service.py. Score shown is the default dashboard fallback in HabitatMonitoring.jsx.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Recommendation titles and actions from ConservationService.get_recommendations(); alert types from AlertService.get_active_alerts() in the user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Phase 4 transition scope from the user-provided project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2fe086ab540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7f9bdf17804ee8" /><Relationship Type="http://schemas.openxmlformats.org/officeDocument/2006/relationships/slideLayout" Target="/ppt/slideLayouts/slideLayout1.xml" Id="R42bdda54d43c4b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bdda54d43c4b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69f6580c8464f" /><Relationship Type="http://schemas.openxmlformats.org/officeDocument/2006/relationships/image" Target="/ppt/media/image.png" Id="R1eea40455e964c52" /><Relationship Type="http://schemas.openxmlformats.org/officeDocument/2006/relationships/notesSlide" Target="/ppt/notesSlides/notesSlide1.xml" Id="R68e90f00b76546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37abbe7bb4ae5" /><Relationship Type="http://schemas.openxmlformats.org/officeDocument/2006/relationships/notesSlide" Target="/ppt/notesSlides/notesSlide2.xml" Id="R9093baf95a5748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1fb5edc9d46a9" /><Relationship Type="http://schemas.openxmlformats.org/officeDocument/2006/relationships/notesSlide" Target="/ppt/notesSlides/notesSlide3.xml" Id="R0c7963b8b16c4b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71d19edfc4cec" /><Relationship Type="http://schemas.openxmlformats.org/officeDocument/2006/relationships/notesSlide" Target="/ppt/notesSlides/notesSlide4.xml" Id="R204dd049796c46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8283442b54bbf" /><Relationship Type="http://schemas.openxmlformats.org/officeDocument/2006/relationships/notesSlide" Target="/ppt/notesSlides/notesSlide5.xml" Id="Rbb8df38e6aa345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d5129ab274527" /><Relationship Type="http://schemas.openxmlformats.org/officeDocument/2006/relationships/notesSlide" Target="/ppt/notesSlides/notesSlide6.xml" Id="Rd266c44f5d214c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141449c32459f" /><Relationship Type="http://schemas.openxmlformats.org/officeDocument/2006/relationships/notesSlide" Target="/ppt/notesSlides/notesSlide7.xml" Id="R203068c6e8d04a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f12334d234686" /><Relationship Type="http://schemas.openxmlformats.org/officeDocument/2006/relationships/notesSlide" Target="/ppt/notesSlides/notesSlide8.xml" Id="R711f2de6ee8941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a40455e964c5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DCF00-2899-4B28-A1DC-5B556F7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62D53-601E-483A-823E-68F7140B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5334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WILDLIFE POPULATION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INTELLIGENCE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699B3-B445-4B56-81A0-13756FBB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B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EBD8"/>
                </a:solidFill>
                <a:latin typeface="Arial"/>
                <a:ea typeface="Arial"/>
                <a:cs typeface="Arial"/>
              </a:rPr>
              <a:t>Phase 3: Population Intelligence &amp; Conservation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236AF-B9BB-4E0E-9CDA-B33B769A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9D8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555CB-F702-4351-BBF2-3C561F6F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EB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EBD8"/>
                </a:solidFill>
                <a:latin typeface="Arial"/>
                <a:ea typeface="Arial"/>
                <a:cs typeface="Arial"/>
              </a:rPr>
              <a:t>New implementation • Weeks 5–6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C6B83-A3ED-463A-8152-BCF94C30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Turning field observations into population insight and conservation action.</a:t>
            </a:r>
          </a:p>
        </p:txBody>
      </p:sp>
    </p:spTree>
    <p:extLst>
      <p:ext uri="{BB962C8B-B14F-4D97-AF65-F5344CB8AC3E}">
        <p14:creationId xmlns:p14="http://schemas.microsoft.com/office/powerpoint/2010/main" val="387123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DA95A-37D1-4BBB-A1FB-019D2416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PHASE 3 · WEEKS 5–6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6BD32-2BBA-4F0B-9A27-A7DB2658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62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42450-69EC-44D2-86A0-65456644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21777-E85F-488D-8B7A-9A077F7E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What Phase 3 adds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ACA0A-2351-4F4A-9D01-B46608B0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The platform now goes beyond detection: it estimates, evaluates, prioritizes, and alerts.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C0EB0-FAC1-42DB-A51B-DEC0E95E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02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1D865-7DEA-419B-B502-738105DE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9D8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764BD-8636-45D4-94F2-EA5BD96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71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Population intelligence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E4104-336D-40F1-9737-665BD478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71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Species-level counts, density estimates, growth trends, and confidence views.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1CCC7-3383-405D-882F-EAEC8DD0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D207C-2ED9-41CA-A442-79031366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9D8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8701F-0D21-4E82-A583-52659CF0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33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Habitat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AFC9B-FB7A-4160-A2EF-1676898C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338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Vegetation, water availability, human disturbance, and habitat-health monitoring.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92AC6-6535-4842-AD22-C862B2EB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F68FB-1C0C-4093-8B1F-7393FAF4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9D8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BFA1A-DA0D-4CAD-8B31-1F0C337D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95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Conservation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3E40D-539D-424F-8D40-27FE9686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958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Weighted ecosystem scoring, prioritized action plans, and active alerts.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F1F8D-D0D7-47DD-9639-3AA26A0C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2743200" cy="3124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B9324-FB18-42BF-B92F-4673AC1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PHASE 3</a:t>
            </a:r>
          </a:p>
          <a:p xmlns:a="http://schemas.openxmlformats.org/drawingml/2006/main">
            <a:pPr algn="l">
              <a:defRPr sz="112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A5A1E-DFEC-4E6E-8E48-A2EB66A6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09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A clear view of population and ecosystem risk.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FB58B-AA14-4E1F-AD01-9551ACB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Operational endpoints + dashboard pages</a:t>
            </a:r>
          </a:p>
        </p:txBody>
      </p:sp>
    </p:spTree>
    <p:extLst>
      <p:ext uri="{BB962C8B-B14F-4D97-AF65-F5344CB8AC3E}">
        <p14:creationId xmlns:p14="http://schemas.microsoft.com/office/powerpoint/2010/main" val="1286491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3DECE-10EF-479E-9533-66965D01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PHASE 3 · WEEKS 5–6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35C56-FF06-4257-AD23-AC2AFD07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62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0EC09-67E0-44FC-8E04-FDFDB740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089AB-DB0C-46A2-9485-BF2572E6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One pipeline turns observations into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DCFBC-2234-4653-8F7D-3A300779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Phase 3 connects field evidence to management decisions through four implemented services.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BEC6C-574B-42DD-91C2-9E1F89DA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004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B7F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D8C78-7B2C-4363-8CC7-18A26419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004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B7F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17139-29B9-4847-BA1B-44D49EB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04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B7F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C1E57-2CEA-4E1E-B5F0-64500D98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21526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F5928-4D77-45C9-8160-D451B8FE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47513-8AA9-4DF0-AE95-B1BD1D27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762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Field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BE240-D324-433B-9EBC-7BD03869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Camera traps</a:t>
            </a:r>
          </a:p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&amp; habitat telemetry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34B5A-7443-40C4-AA1E-82F68752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71750"/>
            <a:ext cx="21526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74206-E5BB-4674-93A9-A3CB9F2A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E77D2-3F63-46E6-AED8-06E7E68C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81350"/>
            <a:ext cx="1762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Population</a:t>
            </a:r>
          </a:p>
          <a:p xmlns:a="http://schemas.openxmlformats.org/drawingml/2006/main">
            <a:pPr algn="l">
              <a:defRPr sz="172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D4964-CF60-48B8-B0F4-A15ADAE6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29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Counts • density</a:t>
            </a:r>
          </a:p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trends • corridors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19BB1-3E4C-42D0-ADAF-A32A7BA6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1526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88DF1-7894-4D98-BADD-46479B2F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0C18A-CF08-407E-8C34-56C3043E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1762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Health</a:t>
            </a:r>
          </a:p>
          <a:p xmlns:a="http://schemas.openxmlformats.org/drawingml/2006/main">
            <a:pPr algn="l">
              <a:defRPr sz="172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13234-BF94-4602-AEAB-AE97E398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Weighted ecosystem</a:t>
            </a:r>
          </a:p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health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36D92-7067-4D58-B547-25757F50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21526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055BA-76F4-4013-9B59-123BDC4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F395C-0722-4899-BB45-153DC2EE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762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Action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55C51-6D8C-4B50-8F9A-2F824A7A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29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Recommendations</a:t>
            </a:r>
          </a:p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&amp; alerts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A6982-1D1C-4269-92A5-306710A7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434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Implemented API chain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155B8D-FED3-4B67-80A1-222A28C2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866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/population  →  /habitat  →  /conservation  →  alert feed</a:t>
            </a:r>
          </a:p>
        </p:txBody>
      </p:sp>
    </p:spTree>
    <p:extLst>
      <p:ext uri="{BB962C8B-B14F-4D97-AF65-F5344CB8AC3E}">
        <p14:creationId xmlns:p14="http://schemas.microsoft.com/office/powerpoint/2010/main" val="44683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3F100-701D-4367-B283-7C5E3142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PHASE 3 · WEEKS 5–6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B4E74-FB41-49E8-BD80-1C663FD6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62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55DAC-173B-44C8-8CC4-D14EB3A0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DC548-81EF-4317-ABB7-E20E882C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Population Intelligence Engine makes numbers usable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84BE4-B2BF-4574-8BC5-314820DA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Per-species estimates combine stored detections with reserve-level baselines and expose trends for the dashboard.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8370F-438A-4965-AFCF-430AFB2B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2333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A813E-D875-424C-A400-FEE0217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2,733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36C01-E182-4839-9B82-C2FFED23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ESTIMATED INDIVIDUALS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09658-AD70-4FFE-8F2A-BAB6FC80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0250"/>
            <a:ext cx="2333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265D4-44A6-47AD-9E30-B93A19D3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71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393B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393B6"/>
                </a:solidFill>
                <a:latin typeface="Arial"/>
                <a:ea typeface="Arial"/>
                <a:cs typeface="Arial"/>
              </a:rPr>
              <a:t>1,500 km²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7E34B-EDAC-429E-837F-16468DBF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28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MONITORING 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97084-4E0A-455D-8C03-968E08AF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00250"/>
            <a:ext cx="2333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A60D4-BAF4-4053-B520-9744F669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71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97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973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F0E24-C7DE-489B-B9CD-306CDB89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28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SPECIES TRACKED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314F9-5B78-4241-9B75-4D8C086D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333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4D573-1834-4F30-A6C4-1D144DAF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89%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87C20-6224-426F-804B-A12E0D79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CONFIDENCE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58FA5-9258-4835-AE4E-E733444F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What is now implemented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B9EC2-40E0-4C2E-8950-E3C1B8B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33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8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C5870-94B6-4813-BF94-33B6128E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Population size and species distribution from detection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59874-6C4A-4A9D-95E0-37240DF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91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8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D227C-8AE0-449F-A69F-58823524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Density calculation across the monitored reserve area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38E1A-E463-454B-88E0-6720B2A6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48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8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FB0D8-328E-4D1F-9BB1-7EAD603B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Annual growth-rate and trend-status fields for each species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595C07-17EA-4BC1-97A4-1BD9790D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05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8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6AD58-9BC6-4ABC-8969-1EC3AEA8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Dashboard-ready endpoints for estimates, distribution, and migration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47A473-AC10-491E-9003-634845BF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86150"/>
            <a:ext cx="18669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3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393993-E1E0-45E5-AD48-075613F0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D8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D86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DA5526-2332-4DA8-AACD-8442B66C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14800"/>
            <a:ext cx="1476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Species-level insight—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just raw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detections.</a:t>
            </a:r>
          </a:p>
        </p:txBody>
      </p:sp>
    </p:spTree>
    <p:extLst>
      <p:ext uri="{BB962C8B-B14F-4D97-AF65-F5344CB8AC3E}">
        <p14:creationId xmlns:p14="http://schemas.microsoft.com/office/powerpoint/2010/main" val="20577962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02CC38-CF6D-4416-9958-AEFCA41A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PHASE 3 · WEEKS 5–6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CF5B4-83B6-421D-A12E-94D8AFCC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62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0A800-79A4-4195-BE97-D66B6BC5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ABD83-0BC6-487A-B899-95236714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Migration corridors make movement operational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8C2FF-FB3B-4B60-9A1E-D8D43ECA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Three route records surface seasonality, tracked individuals, and risks that teams need to manage.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0D0CC-4B38-455C-906F-8CF1A370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68008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0499D-D062-4E04-8BD3-4AF089D6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ACTIVE CORRIDORS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4BF60-501C-4650-9695-A9A12941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6134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DE12C-0A06-43C3-80A8-28960B2E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2F5AD-648E-4A0F-8A38-D8E99005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Sunderbans Northern Corridor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2122A-F3D6-4A73-AA52-B2AE1E3D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Bengal Tiger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72E13-7A2D-429F-B2C2-772051B1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479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18 tracked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FF645-6C85-432F-9F81-46BF86C8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Low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17E00-1CA2-4F98-9694-90CCE807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6134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39948-8C34-453F-81B7-EEA2DC8C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E3E80-E106-4891-9D33-985BD4C8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909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Western Ghats High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9151F-66DE-41A9-9DE8-806D9938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Indian Elephant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8360F-3926-4572-8845-3B3AC91A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64 tracked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47419-3117-43A5-A483-D699F1B7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147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997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973A"/>
                </a:solidFill>
                <a:latin typeface="Arial"/>
                <a:ea typeface="Arial"/>
                <a:cs typeface="Arial"/>
              </a:rPr>
              <a:t>Moderate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CD3C1-9847-4951-8B92-139F06BD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6134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7CB01-0C64-4226-9E16-5E112461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D59E61-A1F7-4296-83A7-F3F74A8E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Kaziranga River Bank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DA287-D475-4872-9EB6-456255A5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Indian Rhinoceros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3FC78-F67C-476E-9811-85C4132A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291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31 tracked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856D5-2F3E-4514-B9DA-189A5C21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D4B3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4B3D"/>
                </a:solidFill>
                <a:latin typeface="Arial"/>
                <a:ea typeface="Arial"/>
                <a:cs typeface="Arial"/>
              </a:rPr>
              <a:t>Elevated 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56B792-3F0C-4D3C-9C35-09B5661A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28825"/>
            <a:ext cx="36195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3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E8E49-EF82-4DC6-BB05-765C90E8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D8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D869"/>
                </a:solidFill>
                <a:latin typeface="Arial"/>
                <a:ea typeface="Arial"/>
                <a:cs typeface="Arial"/>
              </a:rPr>
              <a:t>WHY THIS</a:t>
            </a:r>
          </a:p>
          <a:p xmlns:a="http://schemas.openxmlformats.org/drawingml/2006/main">
            <a:pPr algn="l">
              <a:defRPr sz="1125" b="1">
                <a:solidFill>
                  <a:srgbClr val="B9D8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D869"/>
                </a:solidFill>
                <a:latin typeface="Arial"/>
                <a:ea typeface="Arial"/>
                <a:cs typeface="Arial"/>
              </a:rPr>
              <a:t>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0AE44-009C-4446-8A71-80657DFB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766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Movement patterns guide patrol planning, conflict prevention, and seasonal protection.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98E82A-FFC7-47F8-964D-D6A2C430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14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B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8EBD8"/>
                </a:solidFill>
                <a:latin typeface="Arial"/>
                <a:ea typeface="Arial"/>
                <a:cs typeface="Arial"/>
              </a:rPr>
              <a:t>Population endpoint: /population/migration</a:t>
            </a:r>
          </a:p>
        </p:txBody>
      </p:sp>
    </p:spTree>
    <p:extLst>
      <p:ext uri="{BB962C8B-B14F-4D97-AF65-F5344CB8AC3E}">
        <p14:creationId xmlns:p14="http://schemas.microsoft.com/office/powerpoint/2010/main" val="624321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90C4D4-6081-462D-825B-47A0EA85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PHASE 3 · WEEKS 5–6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AFB15-D75B-4283-941B-AF505F39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62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E79C3-0AB2-442B-98FE-D2A6C2B3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EE80F-E7F0-41F1-963C-080257E7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Habitat telemetry rolls up into one ecosystem health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8EFF5-B237-4B12-B3D8-D75AAA5B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The scoring model makes habitat condition, biodiversity, and population stability comparable in a single measure.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91334-25F0-4356-9FBA-900262DC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40195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103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74970-5D84-483A-A631-C3582F6A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D8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D869"/>
                </a:solidFill>
                <a:latin typeface="Arial"/>
                <a:ea typeface="Arial"/>
                <a:cs typeface="Arial"/>
              </a:rPr>
              <a:t>ECOSYSTEM HEALTH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35C66-8FF9-466D-B409-74637A49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78.4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61D46-DFF6-40E0-9E57-748888E7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EB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EBD8"/>
                </a:solidFill>
                <a:latin typeface="Arial"/>
                <a:ea typeface="Arial"/>
                <a:cs typeface="Arial"/>
              </a:rPr>
              <a:t>/ 100  •  Healthy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09BC1-C59B-485B-96E4-7E8BFBA6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34385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87D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901EF-340A-48F1-8C1B-33755111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weighted view of reserve condition, not a single sensor reading.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D5579-50B7-40AC-9875-8FFFEE86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95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Species diversity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50705-06A9-4390-BDE4-34447055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95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05B6E-215F-4C71-BBA5-2DCF8A52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93866-2023-48B0-9935-C28C1DDB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0DF31-BEB8-48D1-AAD4-5D39A8C4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76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Population stability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A0E20-0F26-4AA3-8E64-17710262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765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AFE1C-E3BC-4F69-829D-5A7EDB0B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95575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294F9-34BC-48CB-94E0-E6260DAF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95575"/>
            <a:ext cx="1746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93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300B6-2A4B-4D4F-8ED2-231BDD1B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575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Habitat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D8531-DCB4-4F43-B957-365B2F9C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575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65689-D503-436B-BE74-76044E71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76600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9E353-C093-4D03-BD0F-80E5F53C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76600"/>
            <a:ext cx="139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8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4B09A-C302-4D43-88A1-1F1E6738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838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Endangered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A307A-5793-485B-BF03-8F214149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385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D736AF-35EE-4835-A40D-CD6BC2CD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A26FA-B5FD-4FAC-AA4B-45641824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1047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8C22C7-3F75-44AA-94BF-4FEE4E24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419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Environmental conditions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21EBED-EF26-4F4B-A0A7-9B645DD9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19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CB0548-8882-4AD4-8FE1-F1AC3717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38650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D31C7D-DD2B-4767-822C-78E261E1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38650"/>
            <a:ext cx="698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80D48-2DD6-484C-8BC3-07CB245E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1435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Formula implemented in ConservationService</a:t>
            </a:r>
          </a:p>
        </p:txBody>
      </p:sp>
    </p:spTree>
    <p:extLst>
      <p:ext uri="{BB962C8B-B14F-4D97-AF65-F5344CB8AC3E}">
        <p14:creationId xmlns:p14="http://schemas.microsoft.com/office/powerpoint/2010/main" val="364806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326DF5-FD6A-4B42-BC15-BFCE9DD5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PHASE 3 · WEEKS 5–6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86DC7-6DDA-40AD-8F3E-E707651A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62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B6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DAE3B-3232-4A86-BF00-C90F325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F452E-E953-46BA-ADEA-6026A66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Recommendations and alerts close the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9CE88-0D9B-407B-9B2C-40BCD2EC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The system converts ecological signals into prioritized, place-specific next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F2F40-C197-4B21-BAE1-953CA2EA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9775"/>
            <a:ext cx="700087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1350A-F5EA-4A66-AADD-3DBB4822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4B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4B3D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70B09-BE94-41F5-A00B-89F02F26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336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Western Ghats Corridor Protection Patrols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5D582-9D15-4D56-83F9-155CE155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479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Deploy drone patrols and acoustic alert tripwires near agricultural boundaries.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664C8-0B5B-466F-ACD8-6BBFA0A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700087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3030A-83EB-4879-890B-302DC351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97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973A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1D6CA-879D-4027-81FC-0F5C46DA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004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Sunderbans Mangrove Water Salinity Mitigation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725BF-F59A-4D21-807F-B8804FE6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147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Improve freshwater availability with retention ponds and sensor monitoring.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63D80-35F9-4CE0-828D-F00F4F9B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700087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B321A-F5BE-4483-8269-FBE334AC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93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93B6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8A157-485F-42C1-836D-203CEDE0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672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Camera Trap Network Optimization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2B55B-94C6-4503-80EA-2EC5A8F8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815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B64"/>
                </a:solidFill>
                <a:latin typeface="Arial"/>
                <a:ea typeface="Arial"/>
                <a:cs typeface="Arial"/>
              </a:rPr>
              <a:t>Reposition 12 nodes to improve nocturnal predator detection.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95E86-F3F9-4433-A820-7BDCE838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9775"/>
            <a:ext cx="3362325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1CC30-8CE7-4114-ABD6-5DE21F1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574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4B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D4B3D"/>
                </a:solidFill>
                <a:latin typeface="Arial"/>
                <a:ea typeface="Arial"/>
                <a:cs typeface="Arial"/>
              </a:rPr>
              <a:t>ALERT TYPES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877DB-1D5A-4286-BCA4-412BDE96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BE8B1-06D5-4D07-BE94-2580A713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Endangered species sighting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B5220-ED32-4E92-AB43-701EEA0C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099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EC858-3CDE-4B31-8A64-E5D13FC9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337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Population decline warning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5DEDE-0E06-4201-8A91-06FFECB5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6BD18C-3088-4286-A68F-668AEAAA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Habitat degradation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07022-0336-438D-AAF9-1887EAD2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052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3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6C177-4B3A-40CA-810D-B5D8235C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29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2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21C"/>
                </a:solidFill>
                <a:latin typeface="Arial"/>
                <a:ea typeface="Arial"/>
                <a:cs typeface="Arial"/>
              </a:rPr>
              <a:t>Device status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CC56A-5D86-4AC9-A2F4-37B66B2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7F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7F54"/>
                </a:solidFill>
                <a:latin typeface="Arial"/>
                <a:ea typeface="Arial"/>
                <a:cs typeface="Arial"/>
              </a:rPr>
              <a:t>Prioritize • notify • intervene</a:t>
            </a:r>
          </a:p>
        </p:txBody>
      </p:sp>
    </p:spTree>
    <p:extLst>
      <p:ext uri="{BB962C8B-B14F-4D97-AF65-F5344CB8AC3E}">
        <p14:creationId xmlns:p14="http://schemas.microsoft.com/office/powerpoint/2010/main" val="438302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3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BC29C-A881-47F9-97AF-5EC2D72E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D8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D869"/>
                </a:solidFill>
                <a:latin typeface="Arial"/>
                <a:ea typeface="Arial"/>
                <a:cs typeface="Arial"/>
              </a:rPr>
              <a:t>PHASE 3 COMPLETE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E13F9-7B66-4046-8E7C-FBF9DE8B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wildlife observations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 conservation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7E5CF-A4B2-437F-BAD4-D89498A9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7286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B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EBD8"/>
                </a:solidFill>
                <a:latin typeface="Arial"/>
                <a:ea typeface="Arial"/>
                <a:cs typeface="Arial"/>
              </a:rPr>
              <a:t>The new implementation provides population estimates, habitat intelligence, ecosystem health scoring, migration analytics, recommendations, and alerts in one connected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BFB00-6558-4B6A-99BC-C5C6ABB7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52550"/>
            <a:ext cx="260985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19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C226A-2F99-4722-9E2F-729CAC0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D8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D869"/>
                </a:solidFill>
                <a:latin typeface="Arial"/>
                <a:ea typeface="Arial"/>
                <a:cs typeface="Arial"/>
              </a:rPr>
              <a:t>READY FOR</a:t>
            </a:r>
          </a:p>
          <a:p xmlns:a="http://schemas.openxmlformats.org/drawingml/2006/main">
            <a:pPr algn="l">
              <a:defRPr sz="1125" b="1">
                <a:solidFill>
                  <a:srgbClr val="B9D8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D869"/>
                </a:solidFill>
                <a:latin typeface="Arial"/>
                <a:ea typeface="Arial"/>
                <a:cs typeface="Arial"/>
              </a:rPr>
              <a:t>PHASE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132E1-9A76-460A-A5DD-88EA27B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1885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analytics, reports, GIS visualization, testing, and deployment.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D3DA2-EF80-48F1-98CC-B2B99C6B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95925"/>
            <a:ext cx="10906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87D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2EDF3-4D60-46DD-B5D3-D50FB353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91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Wildlife Population Intelligence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C99C0-23A5-4544-A934-F9B6C621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9120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8EB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EBD8"/>
                </a:solidFill>
                <a:latin typeface="Arial"/>
                <a:ea typeface="Arial"/>
                <a:cs typeface="Arial"/>
              </a:rPr>
              <a:t>Phase 3 presentation</a:t>
            </a:r>
          </a:p>
        </p:txBody>
      </p:sp>
    </p:spTree>
    <p:extLst>
      <p:ext uri="{BB962C8B-B14F-4D97-AF65-F5344CB8AC3E}">
        <p14:creationId xmlns:p14="http://schemas.microsoft.com/office/powerpoint/2010/main" val="466158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2026-08-10T14:06:01.7660000Z</dcterms:created>
  <dcterms:modified xsi:type="dcterms:W3CDTF">2026-08-10T14:06:01.7670000Z</dcterms:modified>
</coreProperties>
</file>